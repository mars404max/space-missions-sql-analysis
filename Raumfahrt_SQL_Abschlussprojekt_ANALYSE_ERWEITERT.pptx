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Auffälligkeiten in den Rohdaten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Anzahl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Price</c:v>
                </c:pt>
                <c:pt idx="1">
                  <c:v>Time</c:v>
                </c:pt>
                <c:pt idx="2">
                  <c:v>Duplikat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3365</c:v>
                </c:pt>
                <c:pt idx="1">
                  <c:v>127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Statusverteilung nach Bereinigung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Missionen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Success</c:v>
                </c:pt>
                <c:pt idx="1">
                  <c:v>Failure</c:v>
                </c:pt>
                <c:pt idx="2">
                  <c:v>Partial Failure</c:v>
                </c:pt>
                <c:pt idx="3">
                  <c:v>Prelaunch Failure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4161</c:v>
                </c:pt>
                <c:pt idx="1">
                  <c:v>357</c:v>
                </c:pt>
                <c:pt idx="2">
                  <c:v>107</c:v>
                </c:pt>
                <c:pt idx="3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Missionen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RVSN USSR</c:v>
                </c:pt>
                <c:pt idx="1">
                  <c:v>CASC</c:v>
                </c:pt>
                <c:pt idx="2">
                  <c:v>Arianespace</c:v>
                </c:pt>
                <c:pt idx="3">
                  <c:v>General Dynamics</c:v>
                </c:pt>
                <c:pt idx="4">
                  <c:v>VKS RF</c:v>
                </c:pt>
                <c:pt idx="5">
                  <c:v>NASA</c:v>
                </c:pt>
                <c:pt idx="6">
                  <c:v>SpaceX</c:v>
                </c:pt>
                <c:pt idx="7">
                  <c:v>US Air Force</c:v>
                </c:pt>
                <c:pt idx="8">
                  <c:v>ULA</c:v>
                </c:pt>
                <c:pt idx="9">
                  <c:v>Boeing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1777</c:v>
                </c:pt>
                <c:pt idx="1">
                  <c:v>337</c:v>
                </c:pt>
                <c:pt idx="2">
                  <c:v>293</c:v>
                </c:pt>
                <c:pt idx="3">
                  <c:v>251</c:v>
                </c:pt>
                <c:pt idx="4">
                  <c:v>216</c:v>
                </c:pt>
                <c:pt idx="5">
                  <c:v>203</c:v>
                </c:pt>
                <c:pt idx="6">
                  <c:v>182</c:v>
                </c:pt>
                <c:pt idx="7">
                  <c:v>161</c:v>
                </c:pt>
                <c:pt idx="8">
                  <c:v>151</c:v>
                </c:pt>
                <c:pt idx="9">
                  <c:v>136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RVSN USSR</c:v>
                </c:pt>
                <c:pt idx="1">
                  <c:v>CASC</c:v>
                </c:pt>
                <c:pt idx="2">
                  <c:v>Arianespace</c:v>
                </c:pt>
                <c:pt idx="3">
                  <c:v>General Dynamics</c:v>
                </c:pt>
                <c:pt idx="4">
                  <c:v>VKS RF</c:v>
                </c:pt>
                <c:pt idx="5">
                  <c:v>NASA</c:v>
                </c:pt>
                <c:pt idx="6">
                  <c:v>SpaceX</c:v>
                </c:pt>
                <c:pt idx="7">
                  <c:v>US Air Force</c:v>
                </c:pt>
                <c:pt idx="8">
                  <c:v>ULA</c:v>
                </c:pt>
                <c:pt idx="9">
                  <c:v>Boeing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90.8</c:v>
                </c:pt>
                <c:pt idx="1">
                  <c:v>94.1</c:v>
                </c:pt>
                <c:pt idx="2">
                  <c:v>96.2</c:v>
                </c:pt>
                <c:pt idx="3">
                  <c:v>80.9</c:v>
                </c:pt>
                <c:pt idx="4">
                  <c:v>93.5</c:v>
                </c:pt>
                <c:pt idx="5">
                  <c:v>91.6</c:v>
                </c:pt>
                <c:pt idx="6">
                  <c:v>94.5</c:v>
                </c:pt>
                <c:pt idx="7">
                  <c:v>80.1</c:v>
                </c:pt>
                <c:pt idx="8">
                  <c:v>99.3</c:v>
                </c:pt>
                <c:pt idx="9">
                  <c:v>96.3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75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Missionen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Cosmos-3M</c:v>
                </c:pt>
                <c:pt idx="1">
                  <c:v>Voskhod</c:v>
                </c:pt>
                <c:pt idx="2">
                  <c:v>Molniya-M ML</c:v>
                </c:pt>
                <c:pt idx="3">
                  <c:v>Cosmos-2I</c:v>
                </c:pt>
                <c:pt idx="4">
                  <c:v>Soyuz U</c:v>
                </c:pt>
                <c:pt idx="5">
                  <c:v>Tsyklon-3</c:v>
                </c:pt>
                <c:pt idx="6">
                  <c:v>Falcon 9 Block 5</c:v>
                </c:pt>
                <c:pt idx="7">
                  <c:v>Tsyklon-2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446</c:v>
                </c:pt>
                <c:pt idx="1">
                  <c:v>299</c:v>
                </c:pt>
                <c:pt idx="2">
                  <c:v>128</c:v>
                </c:pt>
                <c:pt idx="3">
                  <c:v>126</c:v>
                </c:pt>
                <c:pt idx="4">
                  <c:v>125</c:v>
                </c:pt>
                <c:pt idx="5">
                  <c:v>122</c:v>
                </c:pt>
                <c:pt idx="6">
                  <c:v>111</c:v>
                </c:pt>
                <c:pt idx="7">
                  <c:v>106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Datenanalyse von Raumfahrtmissionen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  <a:latin typeface="Calibri"/>
              </a:defRPr>
            </a:pPr>
            <a:r>
              <a:t>Projekt B – vertiefte Analyse von Entwicklung, Zuverlässigkeit und 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6583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D2D"/>
                </a:solidFill>
              </a:defRPr>
            </a:pPr>
            <a:r>
              <a:t>Raumfahrt von 1957 bis 2022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</a:defRPr>
            </a:pPr>
            <a:r>
              <a:t>Wie hat sich die Raumfahrtaktivität entwickelt?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</a:defRPr>
            </a:pPr>
            <a:r>
              <a:t>Sind Missionen und häufig genutzte Raketen zuverlässiger?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</a:defRPr>
            </a:pPr>
            <a:r>
              <a:t>Welche Unterschiede gibt es zwischen Organisationen und Startorten?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645920"/>
            <a:ext cx="2560320" cy="132588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7344" y="1755648"/>
            <a:ext cx="226771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4.630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Rohdatensätze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54680"/>
            <a:ext cx="2560320" cy="132588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67344" y="3264408"/>
            <a:ext cx="226771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65 Jahre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1957–2022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663440"/>
            <a:ext cx="256032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7344" y="4773168"/>
            <a:ext cx="226771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MySQL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Analyse &amp; Datenmodell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391656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Fragestellung und Analyseplan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57800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572768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9047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5496"/>
                </a:solidFill>
              </a:defRPr>
            </a:pPr>
            <a:r>
              <a:t>Zeit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84248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Starts pro Jahr / Jahrzehnt</a:t>
            </a:r>
            <a:br/>
            <a:r>
              <a:t>Erfolgsquote im Zeitverlauf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57800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72768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276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9047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5496"/>
                </a:solidFill>
              </a:defRPr>
            </a:pPr>
            <a:r>
              <a:t>Organisationen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84248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Aktivität + Success Rate</a:t>
            </a:r>
            <a:br/>
            <a:r>
              <a:t>nur bei genügend Missionen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257800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904487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593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2191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5496"/>
                </a:solidFill>
              </a:defRPr>
            </a:pPr>
            <a:r>
              <a:t>Raketen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315968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Nutzung + Zuverlässigkeit</a:t>
            </a:r>
            <a:br/>
            <a:r>
              <a:t>Active vs. Retired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257800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3904487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9593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822191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5496"/>
                </a:solidFill>
              </a:defRPr>
            </a:pPr>
            <a:r>
              <a:t>Startorte &amp; Datenqualität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315968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Häufigste Launch Sites</a:t>
            </a:r>
            <a:br/>
            <a:r>
              <a:t>Preisangaben kritisch prüfen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6391656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Datensatz und Datenqualität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  <a:latin typeface="Calibri"/>
              </a:defRPr>
            </a:pPr>
            <a:r>
              <a:t>Nicht jede Spalte ist gleich vollständig – das beeinflusst die Analyse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14884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344168"/>
            <a:ext cx="185623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4.630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Zeilen im Rohdatensatz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234440"/>
            <a:ext cx="214884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9544" y="1344168"/>
            <a:ext cx="185623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4.629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nach Duplikatbereinigung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234440"/>
            <a:ext cx="214884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1264" y="1344168"/>
            <a:ext cx="185623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127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fehlende Uhrzeiten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234440"/>
            <a:ext cx="214884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2983" y="1344168"/>
            <a:ext cx="185623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3.365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fehlende Preise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77240" y="274320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29400" y="278892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Preis fehlt bei rund 72,7 % der Zeilen → Kosten nur ergänzend interpretieren.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Das vollständige Duplikat wird mit SELECT DISTINCT entfernt.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Datum, Uhrzeit und Preis werden erst nach dem Import in passende Datentypen umgewandelt.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391656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ERD – vom CSV zur relationalen Datenbank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  <a:latin typeface="Calibri"/>
              </a:defRPr>
            </a:pPr>
            <a:r>
              <a:t>Normalisierung trennt Stammdaten von den eigentlichen Missionen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</a:defRPr>
            </a:pPr>
            <a:r>
              <a:t>companies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PK company_id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company_name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8620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</a:defRPr>
            </a:pPr>
            <a:r>
              <a:t>rockets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25112"/>
            <a:ext cx="24688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PK rocket_id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rocket_name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rocket_status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288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</a:defRPr>
            </a:pPr>
            <a:r>
              <a:t>launch_sites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267712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PK site_id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148840"/>
            <a:ext cx="3657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2402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</a:defRPr>
            </a:pPr>
            <a:r>
              <a:t>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87752"/>
            <a:ext cx="3383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PK mission_id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FK company_id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FK rocket_id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FK site_id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mission_name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launch_date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price_musd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mission_status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2514600"/>
            <a:ext cx="685800" cy="0"/>
          </a:xfrm>
          <a:prstGeom prst="line">
            <a:avLst/>
          </a:prstGeom>
          <a:ln w="1905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383280" y="3977639"/>
            <a:ext cx="685800" cy="594361"/>
          </a:xfrm>
          <a:prstGeom prst="line">
            <a:avLst/>
          </a:prstGeom>
          <a:ln w="1905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26679" y="2514600"/>
            <a:ext cx="1143001" cy="274320"/>
          </a:xfrm>
          <a:prstGeom prst="line">
            <a:avLst/>
          </a:prstGeom>
          <a:ln w="1905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29000" y="22677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1 :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224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1 :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40487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N :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6391656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Analyse 1 – Entwicklung im Zeitverlauf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743200" cy="132588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389888"/>
            <a:ext cx="245059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1957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Beginn des Datensatzes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1280160"/>
            <a:ext cx="2743200" cy="132588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9624" y="1389888"/>
            <a:ext cx="245059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2021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Jahr mit den meisten Missionen</a:t>
            </a:r>
          </a:p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Kontrollwert aus demselben Datensatz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2743200" cy="132588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21424" y="1389888"/>
            <a:ext cx="245059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157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Missionen im Rekordjahr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657600"/>
            <a:ext cx="9601200" cy="0"/>
          </a:xfrm>
          <a:prstGeom prst="line">
            <a:avLst/>
          </a:prstGeom>
          <a:ln w="38100">
            <a:solidFill>
              <a:srgbClr val="D7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3401568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1957</a:t>
            </a:r>
          </a:p>
          <a:p>
            <a:pPr algn="ctr">
              <a:defRPr sz="900">
                <a:solidFill>
                  <a:srgbClr val="646464"/>
                </a:solidFill>
              </a:defRPr>
            </a:pPr>
            <a:r>
              <a:t>Start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0" y="3401568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977639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1980</a:t>
            </a:r>
          </a:p>
          <a:p>
            <a:pPr algn="ctr">
              <a:defRPr sz="900">
                <a:solidFill>
                  <a:srgbClr val="646464"/>
                </a:solidFill>
              </a:defRPr>
            </a:pPr>
            <a:r>
              <a:t>Jahrzehnte vergleichen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3401568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977639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2000</a:t>
            </a:r>
          </a:p>
          <a:p>
            <a:pPr algn="ctr">
              <a:defRPr sz="900">
                <a:solidFill>
                  <a:srgbClr val="646464"/>
                </a:solidFill>
              </a:defRPr>
            </a:pPr>
            <a:r>
              <a:t>Struktur verändert sich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0" y="3401568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977639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2021</a:t>
            </a:r>
          </a:p>
          <a:p>
            <a:pPr algn="ctr">
              <a:defRPr sz="900">
                <a:solidFill>
                  <a:srgbClr val="646464"/>
                </a:solidFill>
              </a:defRPr>
            </a:pPr>
            <a:r>
              <a:t>157 Missionen</a:t>
            </a:r>
          </a:p>
        </p:txBody>
      </p:sp>
      <p:sp>
        <p:nvSpPr>
          <p:cNvPr id="18" name="Oval 17"/>
          <p:cNvSpPr/>
          <p:nvPr/>
        </p:nvSpPr>
        <p:spPr>
          <a:xfrm>
            <a:off x="10607040" y="3401568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3977639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2022</a:t>
            </a:r>
          </a:p>
          <a:p>
            <a:pPr algn="ctr">
              <a:defRPr sz="900">
                <a:solidFill>
                  <a:srgbClr val="646464"/>
                </a:solidFill>
              </a:defRPr>
            </a:pPr>
            <a:r>
              <a:t>Datensatz endet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SQL berechnet für jedes Jahr: Anzahl der Starts, Successes und Success Rate.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Zusätzlich werden Jahrzehnte und größere Epochen mit GROUP BY und CASE verglichen.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Damit wird nicht nur Volumen, sondern auch Zuverlässigkeit über die Zeit betrachtet.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391656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Analyse 2 – Wie zuverlässig waren die Missionen?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32588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09560" y="1600200"/>
            <a:ext cx="2880360" cy="141732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55864" y="1709928"/>
            <a:ext cx="258775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89,89 %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globale Success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246120"/>
            <a:ext cx="2880360" cy="118872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55864" y="3355848"/>
            <a:ext cx="258775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  <a:latin typeface="Calibri"/>
              </a:defRPr>
            </a:pPr>
            <a:r>
              <a:t>468</a:t>
            </a:r>
          </a:p>
          <a:p>
            <a:pPr algn="ctr">
              <a:defRPr sz="1200">
                <a:solidFill>
                  <a:srgbClr val="2D2D2D"/>
                </a:solidFill>
                <a:latin typeface="Calibri"/>
              </a:defRPr>
            </a:pPr>
            <a:r>
              <a:t>nicht vollständig erfolgreiche Missionen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709160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Wichtig: Failure und Partial Failure bleiben getrennt – sonst geht Information verloren.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6391656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Analyse 3 – Welche Organisationen waren am aktivsten?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  <a:latin typeface="Calibri"/>
              </a:defRPr>
            </a:pPr>
            <a:r>
              <a:t>Top 10 nach Anzahl der Missionen im historischen Datensatz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73152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1417320"/>
            <a:ext cx="2971800" cy="132588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1554480"/>
            <a:ext cx="26426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RVSN USSR dominiert historisch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1.777 Missionen – rund 38 % des gesamten Rohdatensatzes.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971800"/>
            <a:ext cx="2971800" cy="132588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3108960"/>
            <a:ext cx="26426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Danach deutlich breiter verteilt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CASC: 337 · Arianespace: 293 · General Dynamics: 251.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526280"/>
            <a:ext cx="2971800" cy="109728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4663440"/>
            <a:ext cx="264261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Wichtig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Organisation ≠ Land. Sowjetische und russische Akteure sind getrennt erfasst.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391656"/>
            <a:ext cx="10149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 · Werte aus demselben Datensatz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Analyse 4 – Aktivität ist nicht gleich Zuverlässigkeit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  <a:latin typeface="Calibri"/>
              </a:defRPr>
            </a:pPr>
            <a:r>
              <a:t>Erfolgsquote der zehn aktivsten Organisationen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34440"/>
          <a:ext cx="676656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18120" y="1325880"/>
            <a:ext cx="3337560" cy="118872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82712" y="1463039"/>
            <a:ext cx="300837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ULA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151 Missionen · 150 erfolgreich · 99,3 %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697480"/>
            <a:ext cx="3337560" cy="118872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2712" y="2834640"/>
            <a:ext cx="300837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Arianespace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293 Missionen · 282 erfolgreich · 96,2 %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69080"/>
            <a:ext cx="3337560" cy="118872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4206240"/>
            <a:ext cx="300837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Gegenbeispiel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General Dynamics: 251 Missionen, aber nur 80,9 % Success 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349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Viele Missionen bedeuten viel Erfahrung – aber nicht automatisch eine höhere Erfolgsquote.</a:t>
            </a:r>
          </a:p>
          <a:p>
            <a:pPr>
              <a:spcAft>
                <a:spcPts val="7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Für Vergleiche sollte man deshalb Anzahl und Quote gemeinsam betrachten.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6391656"/>
            <a:ext cx="10149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 · historischer Stand bis Aug.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Analyse 5 – Was zeigt der Unternehmensvergleich?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6949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234440"/>
                <a:gridCol w="1325880"/>
                <a:gridCol w="1554480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Organisation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Missionen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Erfolgreich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RVSN USSR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90,8 %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CASC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337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94,1 %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Arianespace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96,2 %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NASA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91,6 %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SpaceX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94,5 %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ULA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99,3 %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46720" y="1417320"/>
            <a:ext cx="3063240" cy="123444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11312" y="1554480"/>
            <a:ext cx="273405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Insight 1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RVSN USSR hat mit Abstand das größte historische Volumen, aber nicht die beste Quote.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880360"/>
            <a:ext cx="3063240" cy="123444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3017520"/>
            <a:ext cx="273405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Insight 2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ULA kombiniert relativ hohes Volumen mit 99,3 % Erfolgsquote.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43400"/>
            <a:ext cx="3063240" cy="123444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4480560"/>
            <a:ext cx="273405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Insight 3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SpaceX und CASC liegen im Datensatz bei rund 94–95 % und gehören zur moderneren Phase.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6391656"/>
            <a:ext cx="10149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 · CASC nach Entfernen des Duplikats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Analyse 6 – Weitere Raketen im Vergleich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  <a:latin typeface="Calibri"/>
              </a:defRPr>
            </a:pPr>
            <a:r>
              <a:t>Nutzung und historische Erfolgsquote wichtiger Raketentypen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7150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37960" y="1325880"/>
          <a:ext cx="47091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60120"/>
                <a:gridCol w="1325880"/>
              </a:tblGrid>
              <a:tr h="515982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Rakete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Missionen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Cosmos-3M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93,9 %</a:t>
                      </a:r>
                    </a:p>
                  </a:txBody>
                  <a:tcPr/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Voskhod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94,6 %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Molniya-M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95,3 %</a:t>
                      </a:r>
                    </a:p>
                  </a:txBody>
                  <a:tcPr/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Falcon 9 Block 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100,0 %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Tsyklon-2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99,1 %</a:t>
                      </a:r>
                    </a:p>
                  </a:txBody>
                  <a:tcPr/>
                </a:tc>
              </a:tr>
              <a:tr h="5159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Ariane 5 ECA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97,5 %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29400" y="5166360"/>
            <a:ext cx="4572000" cy="68580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5303520"/>
            <a:ext cx="4242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Auffällig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Falcon 9 Block 5: 111/111 erfolgreiche Missionen im Datensatz – aber nur bis zum Stand 2022.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6391656"/>
            <a:ext cx="10149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 · Raketenvergleich auf gleichem Datensatz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Analyse 7 – Startorte und Grenzen der Daten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246120" cy="141732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371600"/>
            <a:ext cx="29535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</a:defRPr>
            </a:pPr>
            <a:r>
              <a:t>251</a:t>
            </a:r>
          </a:p>
          <a:p>
            <a:pPr algn="ctr">
              <a:defRPr sz="1200">
                <a:solidFill>
                  <a:srgbClr val="2D2D2D"/>
                </a:solidFill>
              </a:defRPr>
            </a:pPr>
            <a:r>
              <a:t>Missionen</a:t>
            </a:r>
          </a:p>
          <a:p>
            <a:pPr algn="ctr">
              <a:defRPr sz="900">
                <a:solidFill>
                  <a:srgbClr val="646464"/>
                </a:solidFill>
              </a:defRPr>
            </a:pPr>
            <a:r>
              <a:t>Site 31/6 · Baikonur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234440"/>
            <a:ext cx="3246120" cy="141732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98264" y="1371600"/>
            <a:ext cx="29535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</a:defRPr>
            </a:pPr>
            <a:r>
              <a:t>3.365</a:t>
            </a:r>
          </a:p>
          <a:p>
            <a:pPr algn="ctr">
              <a:defRPr sz="1200">
                <a:solidFill>
                  <a:srgbClr val="2D2D2D"/>
                </a:solidFill>
              </a:defRPr>
            </a:pPr>
            <a:r>
              <a:t>fehlende Preiswerte</a:t>
            </a:r>
          </a:p>
          <a:p>
            <a:pPr algn="ctr">
              <a:defRPr sz="900">
                <a:solidFill>
                  <a:srgbClr val="646464"/>
                </a:solidFill>
              </a:defRPr>
            </a:pPr>
            <a:r>
              <a:t>von 4.630 Rohdatensätzen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234440"/>
            <a:ext cx="3246120" cy="141732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8704" y="1371600"/>
            <a:ext cx="29535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496"/>
                </a:solidFill>
              </a:defRPr>
            </a:pPr>
            <a:r>
              <a:t>72,7 %</a:t>
            </a:r>
          </a:p>
          <a:p>
            <a:pPr algn="ctr">
              <a:defRPr sz="1200">
                <a:solidFill>
                  <a:srgbClr val="2D2D2D"/>
                </a:solidFill>
              </a:defRPr>
            </a:pPr>
            <a:r>
              <a:t>Price fehlt</a:t>
            </a:r>
          </a:p>
          <a:p>
            <a:pPr algn="ctr">
              <a:defRPr sz="900">
                <a:solidFill>
                  <a:srgbClr val="646464"/>
                </a:solidFill>
              </a:defRPr>
            </a:pPr>
            <a:r>
              <a:t>keine Basis für starke Kostenaussagen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10241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Startorte werden nach Anzahl der Missionen und Erfolgsquote verglichen.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Auch hier sind kleine Stichproben problematisch – deshalb Mindestanzahl an Starts beachten.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Die Preis-Spalte ist zu unvollständig für eine belastbare Branchen-Kostenanalyse.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Der Datensatz endet im August 2022: Aussagen sind historisch, nicht aktuell.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6391656"/>
            <a:ext cx="10149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496"/>
                </a:solidFill>
                <a:latin typeface="Calibri"/>
              </a:defRPr>
            </a:pPr>
            <a:r>
              <a:t>Fazit – was bringt die Analyse praktisch?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378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Sie zeigt, wie sich die Raumfahrtaktivität und die Zuverlässigkeit über Jahrzehnte entwickelt haben.</a:t>
            </a:r>
          </a:p>
          <a:p>
            <a:pPr>
              <a:spcAft>
                <a:spcPts val="7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Sie ermöglicht einen datenbasierten Vergleich von Organisationen und Raketen nach Erfahrung und historischer Erfolgsquote.</a:t>
            </a:r>
          </a:p>
          <a:p>
            <a:pPr>
              <a:spcAft>
                <a:spcPts val="7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Der Vergleich zeigt klar: hohes Missionsvolumen bedeutet nicht automatisch höhere Zuverlässigkeit.</a:t>
            </a:r>
          </a:p>
          <a:p>
            <a:pPr>
              <a:spcAft>
                <a:spcPts val="7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Historische Daten können als erste Orientierung für Risiko-, Technologie- oder Anbieter-Vergleiche dienen.</a:t>
            </a:r>
          </a:p>
          <a:p>
            <a:pPr>
              <a:spcAft>
                <a:spcPts val="7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Für reale heutige Entscheidungen wären zusätzlich aktuelle technische, wirtschaftliche und sicherheitsrelevante Daten notwendig.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5074920"/>
            <a:ext cx="8458200" cy="777240"/>
          </a:xfrm>
          <a:prstGeom prst="roundRect">
            <a:avLst/>
          </a:prstGeom>
          <a:solidFill>
            <a:srgbClr val="F3F6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39112" y="5212080"/>
            <a:ext cx="8129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F5496"/>
                </a:solidFill>
                <a:latin typeface="Calibri"/>
              </a:defRPr>
            </a:pPr>
            <a:r>
              <a:t>Kernaussage</a:t>
            </a:r>
          </a:p>
          <a:p>
            <a:pPr>
              <a:spcBef>
                <a:spcPts val="500"/>
              </a:spcBef>
              <a:defRPr sz="1250">
                <a:solidFill>
                  <a:srgbClr val="2D2D2D"/>
                </a:solidFill>
                <a:latin typeface="Calibri"/>
              </a:defRPr>
            </a:pPr>
            <a:r>
              <a:t>Nicht nur „wer hat am meisten gestartet?“, sondern „wie viel Erfahrung liegt vor und wie zuverlässig war sie?“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10972800" cy="13716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391656"/>
            <a:ext cx="10149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464"/>
                </a:solidFill>
                <a:latin typeface="Calibri"/>
              </a:defRPr>
            </a:pPr>
            <a:r>
              <a:t>Maria Schulz · Projekt B · Datenbanken und SQL · Quelle: Maven Analytics / Next Spaceflight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916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